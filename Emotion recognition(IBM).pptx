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nton" pitchFamily="2" charset="0"/>
      <p:regular r:id="rId12"/>
    </p:embeddedFont>
    <p:embeddedFont>
      <p:font typeface="Canva Sans" panose="020B0604020202020204" charset="0"/>
      <p:regular r:id="rId13"/>
    </p:embeddedFont>
    <p:embeddedFont>
      <p:font typeface="Google Sans" panose="020B0604020202020204" charset="0"/>
      <p:regular r:id="rId14"/>
    </p:embeddedFont>
    <p:embeddedFont>
      <p:font typeface="Montserrat Classic"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Bikram Dhar" userId="b82bfbef2bd0968a" providerId="LiveId" clId="{96FE5AAB-B051-417B-8709-6D8AD391F8E7}"/>
    <pc:docChg chg="modSld">
      <pc:chgData name="Aditya Bikram Dhar" userId="b82bfbef2bd0968a" providerId="LiveId" clId="{96FE5AAB-B051-417B-8709-6D8AD391F8E7}" dt="2025-11-15T19:38:51.036" v="4" actId="14100"/>
      <pc:docMkLst>
        <pc:docMk/>
      </pc:docMkLst>
      <pc:sldChg chg="modSp mod">
        <pc:chgData name="Aditya Bikram Dhar" userId="b82bfbef2bd0968a" providerId="LiveId" clId="{96FE5AAB-B051-417B-8709-6D8AD391F8E7}" dt="2025-11-15T19:38:23.816" v="1" actId="2711"/>
        <pc:sldMkLst>
          <pc:docMk/>
          <pc:sldMk cId="0" sldId="257"/>
        </pc:sldMkLst>
        <pc:spChg chg="mod">
          <ac:chgData name="Aditya Bikram Dhar" userId="b82bfbef2bd0968a" providerId="LiveId" clId="{96FE5AAB-B051-417B-8709-6D8AD391F8E7}" dt="2025-11-15T19:38:23.816" v="1" actId="2711"/>
          <ac:spMkLst>
            <pc:docMk/>
            <pc:sldMk cId="0" sldId="257"/>
            <ac:spMk id="4" creationId="{00000000-0000-0000-0000-000000000000}"/>
          </ac:spMkLst>
        </pc:spChg>
      </pc:sldChg>
      <pc:sldChg chg="modSp mod">
        <pc:chgData name="Aditya Bikram Dhar" userId="b82bfbef2bd0968a" providerId="LiveId" clId="{96FE5AAB-B051-417B-8709-6D8AD391F8E7}" dt="2025-11-15T19:38:37.637" v="2" actId="14100"/>
        <pc:sldMkLst>
          <pc:docMk/>
          <pc:sldMk cId="0" sldId="259"/>
        </pc:sldMkLst>
        <pc:spChg chg="mod">
          <ac:chgData name="Aditya Bikram Dhar" userId="b82bfbef2bd0968a" providerId="LiveId" clId="{96FE5AAB-B051-417B-8709-6D8AD391F8E7}" dt="2025-11-15T19:38:37.637" v="2" actId="14100"/>
          <ac:spMkLst>
            <pc:docMk/>
            <pc:sldMk cId="0" sldId="259"/>
            <ac:spMk id="4" creationId="{00000000-0000-0000-0000-000000000000}"/>
          </ac:spMkLst>
        </pc:spChg>
      </pc:sldChg>
      <pc:sldChg chg="modSp mod">
        <pc:chgData name="Aditya Bikram Dhar" userId="b82bfbef2bd0968a" providerId="LiveId" clId="{96FE5AAB-B051-417B-8709-6D8AD391F8E7}" dt="2025-11-15T19:38:42.392" v="3" actId="14100"/>
        <pc:sldMkLst>
          <pc:docMk/>
          <pc:sldMk cId="0" sldId="260"/>
        </pc:sldMkLst>
        <pc:spChg chg="mod">
          <ac:chgData name="Aditya Bikram Dhar" userId="b82bfbef2bd0968a" providerId="LiveId" clId="{96FE5AAB-B051-417B-8709-6D8AD391F8E7}" dt="2025-11-15T19:38:42.392" v="3" actId="14100"/>
          <ac:spMkLst>
            <pc:docMk/>
            <pc:sldMk cId="0" sldId="260"/>
            <ac:spMk id="4" creationId="{00000000-0000-0000-0000-000000000000}"/>
          </ac:spMkLst>
        </pc:spChg>
      </pc:sldChg>
      <pc:sldChg chg="modSp mod">
        <pc:chgData name="Aditya Bikram Dhar" userId="b82bfbef2bd0968a" providerId="LiveId" clId="{96FE5AAB-B051-417B-8709-6D8AD391F8E7}" dt="2025-11-15T19:38:51.036" v="4" actId="14100"/>
        <pc:sldMkLst>
          <pc:docMk/>
          <pc:sldMk cId="0" sldId="263"/>
        </pc:sldMkLst>
        <pc:spChg chg="mod">
          <ac:chgData name="Aditya Bikram Dhar" userId="b82bfbef2bd0968a" providerId="LiveId" clId="{96FE5AAB-B051-417B-8709-6D8AD391F8E7}" dt="2025-11-15T19:38:51.036" v="4" actId="14100"/>
          <ac:spMkLst>
            <pc:docMk/>
            <pc:sldMk cId="0" sldId="263"/>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flipH="1" flipV="1">
            <a:off x="-4591680" y="-2828603"/>
            <a:ext cx="11688756" cy="10349862"/>
          </a:xfrm>
          <a:custGeom>
            <a:avLst/>
            <a:gdLst/>
            <a:ahLst/>
            <a:cxnLst/>
            <a:rect l="l" t="t" r="r" b="b"/>
            <a:pathLst>
              <a:path w="11688756" h="10349862">
                <a:moveTo>
                  <a:pt x="11688756" y="10349861"/>
                </a:moveTo>
                <a:lnTo>
                  <a:pt x="0" y="10349861"/>
                </a:lnTo>
                <a:lnTo>
                  <a:pt x="0" y="0"/>
                </a:lnTo>
                <a:lnTo>
                  <a:pt x="11688756" y="0"/>
                </a:lnTo>
                <a:lnTo>
                  <a:pt x="11688756"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1414922" y="3090229"/>
            <a:ext cx="11688756" cy="10349862"/>
          </a:xfrm>
          <a:custGeom>
            <a:avLst/>
            <a:gdLst/>
            <a:ahLst/>
            <a:cxnLst/>
            <a:rect l="l" t="t" r="r" b="b"/>
            <a:pathLst>
              <a:path w="11688756" h="10349862">
                <a:moveTo>
                  <a:pt x="0" y="0"/>
                </a:moveTo>
                <a:lnTo>
                  <a:pt x="11688756" y="0"/>
                </a:lnTo>
                <a:lnTo>
                  <a:pt x="11688756" y="10349862"/>
                </a:lnTo>
                <a:lnTo>
                  <a:pt x="0" y="10349862"/>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3223815" y="876300"/>
            <a:ext cx="11840370" cy="2787655"/>
          </a:xfrm>
          <a:prstGeom prst="rect">
            <a:avLst/>
          </a:prstGeom>
        </p:spPr>
        <p:txBody>
          <a:bodyPr lIns="0" tIns="0" rIns="0" bIns="0" rtlCol="0" anchor="t">
            <a:spAutoFit/>
          </a:bodyPr>
          <a:lstStyle/>
          <a:p>
            <a:pPr algn="ctr">
              <a:lnSpc>
                <a:spcPts val="11199"/>
              </a:lnSpc>
            </a:pPr>
            <a:r>
              <a:rPr lang="en-US" sz="7999">
                <a:solidFill>
                  <a:srgbClr val="FFFFFF"/>
                </a:solidFill>
                <a:latin typeface="Montserrat Classic"/>
                <a:ea typeface="Montserrat Classic"/>
                <a:cs typeface="Montserrat Classic"/>
                <a:sym typeface="Montserrat Classic"/>
              </a:rPr>
              <a:t>AI-Based Emotion Recognition from Text</a:t>
            </a:r>
          </a:p>
        </p:txBody>
      </p:sp>
      <p:sp>
        <p:nvSpPr>
          <p:cNvPr id="5" name="AutoShape 5"/>
          <p:cNvSpPr/>
          <p:nvPr/>
        </p:nvSpPr>
        <p:spPr>
          <a:xfrm>
            <a:off x="5897880" y="4171636"/>
            <a:ext cx="6492240" cy="0"/>
          </a:xfrm>
          <a:prstGeom prst="line">
            <a:avLst/>
          </a:prstGeom>
          <a:ln w="38100" cap="flat">
            <a:solidFill>
              <a:srgbClr val="FFFFFF"/>
            </a:solidFill>
            <a:prstDash val="solid"/>
            <a:headEnd type="none" w="sm" len="sm"/>
            <a:tailEnd type="none" w="sm" len="sm"/>
          </a:ln>
        </p:spPr>
        <p:txBody>
          <a:bodyPr/>
          <a:lstStyle/>
          <a:p>
            <a:endParaRPr lang="en-IN"/>
          </a:p>
        </p:txBody>
      </p:sp>
      <p:sp>
        <p:nvSpPr>
          <p:cNvPr id="6" name="TextBox 6"/>
          <p:cNvSpPr txBox="1"/>
          <p:nvPr/>
        </p:nvSpPr>
        <p:spPr>
          <a:xfrm>
            <a:off x="4573215" y="5057775"/>
            <a:ext cx="9141569" cy="3207385"/>
          </a:xfrm>
          <a:prstGeom prst="rect">
            <a:avLst/>
          </a:prstGeom>
        </p:spPr>
        <p:txBody>
          <a:bodyPr lIns="0" tIns="0" rIns="0" bIns="0" rtlCol="0" anchor="t">
            <a:spAutoFit/>
          </a:bodyPr>
          <a:lstStyle/>
          <a:p>
            <a:pPr algn="l">
              <a:lnSpc>
                <a:spcPts val="6440"/>
              </a:lnSpc>
            </a:pPr>
            <a:r>
              <a:rPr lang="en-US" sz="4600">
                <a:solidFill>
                  <a:srgbClr val="FFFFFF"/>
                </a:solidFill>
                <a:latin typeface="Canva Sans"/>
                <a:ea typeface="Canva Sans"/>
                <a:cs typeface="Canva Sans"/>
                <a:sym typeface="Canva Sans"/>
              </a:rPr>
              <a:t>Name: Aditya Bikram Dhar</a:t>
            </a:r>
          </a:p>
          <a:p>
            <a:pPr algn="l">
              <a:lnSpc>
                <a:spcPts val="6440"/>
              </a:lnSpc>
            </a:pPr>
            <a:r>
              <a:rPr lang="en-US" sz="4600">
                <a:solidFill>
                  <a:srgbClr val="FFFFFF"/>
                </a:solidFill>
                <a:latin typeface="Canva Sans"/>
                <a:ea typeface="Canva Sans"/>
                <a:cs typeface="Canva Sans"/>
                <a:sym typeface="Canva Sans"/>
              </a:rPr>
              <a:t>ID: 231003003139</a:t>
            </a:r>
          </a:p>
          <a:p>
            <a:pPr algn="l">
              <a:lnSpc>
                <a:spcPts val="6440"/>
              </a:lnSpc>
            </a:pPr>
            <a:r>
              <a:rPr lang="en-US" sz="4600">
                <a:solidFill>
                  <a:srgbClr val="FFFFFF"/>
                </a:solidFill>
                <a:latin typeface="Canva Sans"/>
                <a:ea typeface="Canva Sans"/>
                <a:cs typeface="Canva Sans"/>
                <a:sym typeface="Canva Sans"/>
              </a:rPr>
              <a:t>College: Techno India University</a:t>
            </a:r>
          </a:p>
          <a:p>
            <a:pPr algn="l">
              <a:lnSpc>
                <a:spcPts val="6440"/>
              </a:lnSpc>
            </a:pPr>
            <a:r>
              <a:rPr lang="en-US" sz="4600">
                <a:solidFill>
                  <a:srgbClr val="FFFFFF"/>
                </a:solidFill>
                <a:latin typeface="Canva Sans"/>
                <a:ea typeface="Canva Sans"/>
                <a:cs typeface="Canva Sans"/>
                <a:sym typeface="Canva Sans"/>
              </a:rPr>
              <a:t>PBEL Team: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a:off x="10723967" y="3367299"/>
            <a:ext cx="11688756" cy="10349862"/>
          </a:xfrm>
          <a:custGeom>
            <a:avLst/>
            <a:gdLst/>
            <a:ahLst/>
            <a:cxnLst/>
            <a:rect l="l" t="t" r="r" b="b"/>
            <a:pathLst>
              <a:path w="11688756" h="10349862">
                <a:moveTo>
                  <a:pt x="0" y="0"/>
                </a:moveTo>
                <a:lnTo>
                  <a:pt x="11688756" y="0"/>
                </a:lnTo>
                <a:lnTo>
                  <a:pt x="11688756" y="10349862"/>
                </a:lnTo>
                <a:lnTo>
                  <a:pt x="0" y="10349862"/>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flipV="1">
            <a:off x="-3972599" y="-3256250"/>
            <a:ext cx="11688756" cy="10349862"/>
          </a:xfrm>
          <a:custGeom>
            <a:avLst/>
            <a:gdLst/>
            <a:ahLst/>
            <a:cxnLst/>
            <a:rect l="l" t="t" r="r" b="b"/>
            <a:pathLst>
              <a:path w="11688756" h="10349862">
                <a:moveTo>
                  <a:pt x="11688756" y="10349862"/>
                </a:moveTo>
                <a:lnTo>
                  <a:pt x="0" y="10349862"/>
                </a:lnTo>
                <a:lnTo>
                  <a:pt x="0" y="0"/>
                </a:lnTo>
                <a:lnTo>
                  <a:pt x="11688756" y="0"/>
                </a:lnTo>
                <a:lnTo>
                  <a:pt x="11688756" y="10349862"/>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5663267" y="1770626"/>
            <a:ext cx="7290733" cy="987425"/>
          </a:xfrm>
          <a:prstGeom prst="rect">
            <a:avLst/>
          </a:prstGeom>
        </p:spPr>
        <p:txBody>
          <a:bodyPr wrap="square" lIns="0" tIns="0" rIns="0" bIns="0" rtlCol="0" anchor="t">
            <a:spAutoFit/>
          </a:bodyPr>
          <a:lstStyle/>
          <a:p>
            <a:pPr algn="ctr">
              <a:lnSpc>
                <a:spcPts val="8050"/>
              </a:lnSpc>
            </a:pPr>
            <a:r>
              <a:rPr lang="en-US" sz="5750" b="1" dirty="0">
                <a:solidFill>
                  <a:srgbClr val="FFFFFF"/>
                </a:solidFill>
                <a:latin typeface="Anton" pitchFamily="2" charset="0"/>
                <a:ea typeface="Canva Sans Bold"/>
                <a:cs typeface="Canva Sans Bold"/>
                <a:sym typeface="Canva Sans Bold"/>
              </a:rPr>
              <a:t>Problem Statement</a:t>
            </a:r>
          </a:p>
        </p:txBody>
      </p:sp>
      <p:sp>
        <p:nvSpPr>
          <p:cNvPr id="5" name="TextBox 5"/>
          <p:cNvSpPr txBox="1"/>
          <p:nvPr/>
        </p:nvSpPr>
        <p:spPr>
          <a:xfrm>
            <a:off x="751612" y="3780183"/>
            <a:ext cx="16784776" cy="3313429"/>
          </a:xfrm>
          <a:prstGeom prst="rect">
            <a:avLst/>
          </a:prstGeom>
        </p:spPr>
        <p:txBody>
          <a:bodyPr lIns="0" tIns="0" rIns="0" bIns="0" rtlCol="0" anchor="t">
            <a:spAutoFit/>
          </a:bodyPr>
          <a:lstStyle/>
          <a:p>
            <a:pPr algn="l">
              <a:lnSpc>
                <a:spcPts val="5320"/>
              </a:lnSpc>
            </a:pPr>
            <a:r>
              <a:rPr lang="en-US" sz="3800" dirty="0">
                <a:solidFill>
                  <a:srgbClr val="FFFFFF"/>
                </a:solidFill>
                <a:latin typeface="Canva Sans"/>
                <a:ea typeface="Canva Sans"/>
                <a:cs typeface="Canva Sans"/>
                <a:sym typeface="Canva Sans"/>
              </a:rPr>
              <a:t>Large amounts of text from social media, messages, and reviews contain emotional content. Manually analyzing this data is slow and inconsistent, creating the need for an automated system that can accurately detect emotions to support sentiment analysis, customer service, and psychological assessment.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6619982" y="1987178"/>
            <a:ext cx="5048036" cy="878517"/>
          </a:xfrm>
          <a:prstGeom prst="rect">
            <a:avLst/>
          </a:prstGeom>
        </p:spPr>
        <p:txBody>
          <a:bodyPr lIns="0" tIns="0" rIns="0" bIns="0" rtlCol="0" anchor="t">
            <a:spAutoFit/>
          </a:bodyPr>
          <a:lstStyle/>
          <a:p>
            <a:pPr algn="l">
              <a:lnSpc>
                <a:spcPts val="6962"/>
              </a:lnSpc>
            </a:pPr>
            <a:r>
              <a:rPr lang="en-US" sz="5754" dirty="0">
                <a:solidFill>
                  <a:srgbClr val="FFFFFF"/>
                </a:solidFill>
                <a:latin typeface="Anton"/>
                <a:ea typeface="Anton"/>
                <a:cs typeface="Anton"/>
                <a:sym typeface="Anton"/>
              </a:rPr>
              <a:t>Project Objective</a:t>
            </a:r>
          </a:p>
        </p:txBody>
      </p:sp>
      <p:sp>
        <p:nvSpPr>
          <p:cNvPr id="5" name="TextBox 5"/>
          <p:cNvSpPr txBox="1"/>
          <p:nvPr/>
        </p:nvSpPr>
        <p:spPr>
          <a:xfrm>
            <a:off x="1989032" y="4313317"/>
            <a:ext cx="14309936" cy="3347720"/>
          </a:xfrm>
          <a:prstGeom prst="rect">
            <a:avLst/>
          </a:prstGeom>
        </p:spPr>
        <p:txBody>
          <a:bodyPr lIns="0" tIns="0" rIns="0" bIns="0" rtlCol="0" anchor="t">
            <a:spAutoFit/>
          </a:bodyPr>
          <a:lstStyle/>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To build a machine learning model that classifies emotions from text.</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To preprocess and clean textual data for effective analysis.</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To convert text into numerical features using TF-IDF.</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To train and evaluate a logistic regression model for emotion classification.</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To enable accurate prediction of emotions for new text inputs.</a:t>
            </a:r>
          </a:p>
          <a:p>
            <a:pPr algn="just">
              <a:lnSpc>
                <a:spcPts val="4480"/>
              </a:lnSpc>
            </a:pPr>
            <a:endParaRPr lang="en-US" sz="3200">
              <a:solidFill>
                <a:srgbClr val="FFFFFF"/>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6612672" y="1455799"/>
            <a:ext cx="5503128" cy="987425"/>
          </a:xfrm>
          <a:prstGeom prst="rect">
            <a:avLst/>
          </a:prstGeom>
        </p:spPr>
        <p:txBody>
          <a:bodyPr wrap="square" lIns="0" tIns="0" rIns="0" bIns="0" rtlCol="0" anchor="t">
            <a:spAutoFit/>
          </a:bodyPr>
          <a:lstStyle/>
          <a:p>
            <a:pPr algn="ctr">
              <a:lnSpc>
                <a:spcPts val="8050"/>
              </a:lnSpc>
            </a:pPr>
            <a:r>
              <a:rPr lang="en-US" sz="5750" dirty="0">
                <a:solidFill>
                  <a:srgbClr val="FFFFFF"/>
                </a:solidFill>
                <a:latin typeface="Anton"/>
                <a:ea typeface="Anton"/>
                <a:cs typeface="Anton"/>
                <a:sym typeface="Anton"/>
              </a:rPr>
              <a:t>Dataset Overview</a:t>
            </a:r>
          </a:p>
        </p:txBody>
      </p:sp>
      <p:sp>
        <p:nvSpPr>
          <p:cNvPr id="5" name="TextBox 5"/>
          <p:cNvSpPr txBox="1"/>
          <p:nvPr/>
        </p:nvSpPr>
        <p:spPr>
          <a:xfrm>
            <a:off x="2620805" y="3974530"/>
            <a:ext cx="13046389" cy="3347720"/>
          </a:xfrm>
          <a:prstGeom prst="rect">
            <a:avLst/>
          </a:prstGeom>
        </p:spPr>
        <p:txBody>
          <a:bodyPr lIns="0" tIns="0" rIns="0" bIns="0" rtlCol="0" anchor="t">
            <a:spAutoFit/>
          </a:bodyPr>
          <a:lstStyle/>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Dataset Name: emotion_dataset</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Contains text samples paired with corresponding emotion labels.</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Key columns:</a:t>
            </a:r>
          </a:p>
          <a:p>
            <a:pPr algn="just">
              <a:lnSpc>
                <a:spcPts val="4480"/>
              </a:lnSpc>
            </a:pPr>
            <a:r>
              <a:rPr lang="en-US" sz="3200">
                <a:solidFill>
                  <a:srgbClr val="FFFFFF"/>
                </a:solidFill>
                <a:latin typeface="Google Sans"/>
                <a:ea typeface="Google Sans"/>
                <a:cs typeface="Google Sans"/>
                <a:sym typeface="Google Sans"/>
              </a:rPr>
              <a:t>           Text: Input sentence or message</a:t>
            </a:r>
          </a:p>
          <a:p>
            <a:pPr algn="just">
              <a:lnSpc>
                <a:spcPts val="4480"/>
              </a:lnSpc>
            </a:pPr>
            <a:r>
              <a:rPr lang="en-US" sz="3200">
                <a:solidFill>
                  <a:srgbClr val="FFFFFF"/>
                </a:solidFill>
                <a:latin typeface="Google Sans"/>
                <a:ea typeface="Google Sans"/>
                <a:cs typeface="Google Sans"/>
                <a:sym typeface="Google Sans"/>
              </a:rPr>
              <a:t>           Emotion: Emotion associated with the text</a:t>
            </a:r>
          </a:p>
          <a:p>
            <a:pPr marL="690881" lvl="1" indent="-345440" algn="just">
              <a:lnSpc>
                <a:spcPts val="4480"/>
              </a:lnSpc>
              <a:buFont typeface="Arial"/>
              <a:buChar char="•"/>
            </a:pPr>
            <a:r>
              <a:rPr lang="en-US" sz="3200">
                <a:solidFill>
                  <a:srgbClr val="FFFFFF"/>
                </a:solidFill>
                <a:latin typeface="Google Sans"/>
                <a:ea typeface="Google Sans"/>
                <a:cs typeface="Google Sans"/>
                <a:sym typeface="Google Sans"/>
              </a:rPr>
              <a:t>Used for training, validating, and testing the classification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6119752" y="2109440"/>
            <a:ext cx="6300847" cy="987425"/>
          </a:xfrm>
          <a:prstGeom prst="rect">
            <a:avLst/>
          </a:prstGeom>
        </p:spPr>
        <p:txBody>
          <a:bodyPr wrap="square" lIns="0" tIns="0" rIns="0" bIns="0" rtlCol="0" anchor="t">
            <a:spAutoFit/>
          </a:bodyPr>
          <a:lstStyle/>
          <a:p>
            <a:pPr algn="ctr">
              <a:lnSpc>
                <a:spcPts val="8050"/>
              </a:lnSpc>
              <a:spcBef>
                <a:spcPct val="0"/>
              </a:spcBef>
            </a:pPr>
            <a:r>
              <a:rPr lang="en-US" sz="5750" dirty="0">
                <a:solidFill>
                  <a:srgbClr val="FFFFFF"/>
                </a:solidFill>
                <a:latin typeface="Anton"/>
                <a:ea typeface="Anton"/>
                <a:cs typeface="Anton"/>
                <a:sym typeface="Anton"/>
              </a:rPr>
              <a:t>Preprocessing Steps</a:t>
            </a:r>
          </a:p>
        </p:txBody>
      </p:sp>
      <p:sp>
        <p:nvSpPr>
          <p:cNvPr id="5" name="TextBox 5"/>
          <p:cNvSpPr txBox="1"/>
          <p:nvPr/>
        </p:nvSpPr>
        <p:spPr>
          <a:xfrm>
            <a:off x="1136154" y="4482342"/>
            <a:ext cx="15941303" cy="3347720"/>
          </a:xfrm>
          <a:prstGeom prst="rect">
            <a:avLst/>
          </a:prstGeom>
        </p:spPr>
        <p:txBody>
          <a:bodyPr lIns="0" tIns="0" rIns="0" bIns="0" rtlCol="0" anchor="t">
            <a:spAutoFit/>
          </a:bodyPr>
          <a:lstStyle/>
          <a:p>
            <a:pPr marL="690881" lvl="1" indent="-345440" algn="just">
              <a:lnSpc>
                <a:spcPts val="4480"/>
              </a:lnSpc>
              <a:buFont typeface="Arial"/>
              <a:buChar char="•"/>
            </a:pPr>
            <a:r>
              <a:rPr lang="en-US" sz="3200">
                <a:solidFill>
                  <a:srgbClr val="FFFFFF"/>
                </a:solidFill>
                <a:latin typeface="Canva Sans"/>
                <a:ea typeface="Canva Sans"/>
                <a:cs typeface="Canva Sans"/>
                <a:sym typeface="Canva Sans"/>
              </a:rPr>
              <a:t>Conversion of all text to lowercase for uniformity.</a:t>
            </a:r>
          </a:p>
          <a:p>
            <a:pPr marL="690881" lvl="1" indent="-345440" algn="just">
              <a:lnSpc>
                <a:spcPts val="4480"/>
              </a:lnSpc>
              <a:buFont typeface="Arial"/>
              <a:buChar char="•"/>
            </a:pPr>
            <a:r>
              <a:rPr lang="en-US" sz="3200">
                <a:solidFill>
                  <a:srgbClr val="FFFFFF"/>
                </a:solidFill>
                <a:latin typeface="Canva Sans"/>
                <a:ea typeface="Canva Sans"/>
                <a:cs typeface="Canva Sans"/>
                <a:sym typeface="Canva Sans"/>
              </a:rPr>
              <a:t>Removal of URLs, special characters, and unnecessary punctuation.</a:t>
            </a:r>
          </a:p>
          <a:p>
            <a:pPr marL="690881" lvl="1" indent="-345440" algn="just">
              <a:lnSpc>
                <a:spcPts val="4480"/>
              </a:lnSpc>
              <a:buFont typeface="Arial"/>
              <a:buChar char="•"/>
            </a:pPr>
            <a:r>
              <a:rPr lang="en-US" sz="3200">
                <a:solidFill>
                  <a:srgbClr val="FFFFFF"/>
                </a:solidFill>
                <a:latin typeface="Canva Sans"/>
                <a:ea typeface="Canva Sans"/>
                <a:cs typeface="Canva Sans"/>
                <a:sym typeface="Canva Sans"/>
              </a:rPr>
              <a:t>Removal of common stopwords while retaining important negation terms.</a:t>
            </a:r>
          </a:p>
          <a:p>
            <a:pPr marL="690881" lvl="1" indent="-345440" algn="just">
              <a:lnSpc>
                <a:spcPts val="4480"/>
              </a:lnSpc>
              <a:buFont typeface="Arial"/>
              <a:buChar char="•"/>
            </a:pPr>
            <a:r>
              <a:rPr lang="en-US" sz="3200">
                <a:solidFill>
                  <a:srgbClr val="FFFFFF"/>
                </a:solidFill>
                <a:latin typeface="Canva Sans"/>
                <a:ea typeface="Canva Sans"/>
                <a:cs typeface="Canva Sans"/>
                <a:sym typeface="Canva Sans"/>
              </a:rPr>
              <a:t>Tokenization of text into individual meaningful words.</a:t>
            </a:r>
          </a:p>
          <a:p>
            <a:pPr marL="690881" lvl="1" indent="-345440" algn="just">
              <a:lnSpc>
                <a:spcPts val="4480"/>
              </a:lnSpc>
              <a:buFont typeface="Arial"/>
              <a:buChar char="•"/>
            </a:pPr>
            <a:r>
              <a:rPr lang="en-US" sz="3200">
                <a:solidFill>
                  <a:srgbClr val="FFFFFF"/>
                </a:solidFill>
                <a:latin typeface="Canva Sans"/>
                <a:ea typeface="Canva Sans"/>
                <a:cs typeface="Canva Sans"/>
                <a:sym typeface="Canva Sans"/>
              </a:rPr>
              <a:t>Preparation of clean text for TF-IDF feature extraction.</a:t>
            </a:r>
          </a:p>
          <a:p>
            <a:pPr algn="just">
              <a:lnSpc>
                <a:spcPts val="4480"/>
              </a:lnSpc>
            </a:pPr>
            <a:endParaRPr lang="en-US" sz="3200">
              <a:solidFill>
                <a:srgbClr val="FFFFFF"/>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5532640" y="2159033"/>
            <a:ext cx="7222720" cy="987425"/>
          </a:xfrm>
          <a:prstGeom prst="rect">
            <a:avLst/>
          </a:prstGeom>
        </p:spPr>
        <p:txBody>
          <a:bodyPr lIns="0" tIns="0" rIns="0" bIns="0" rtlCol="0" anchor="t">
            <a:spAutoFit/>
          </a:bodyPr>
          <a:lstStyle/>
          <a:p>
            <a:pPr algn="ctr">
              <a:lnSpc>
                <a:spcPts val="8050"/>
              </a:lnSpc>
              <a:spcBef>
                <a:spcPct val="0"/>
              </a:spcBef>
            </a:pPr>
            <a:r>
              <a:rPr lang="en-US" sz="5750">
                <a:solidFill>
                  <a:srgbClr val="FFFFFF"/>
                </a:solidFill>
                <a:latin typeface="Anton"/>
                <a:ea typeface="Anton"/>
                <a:cs typeface="Anton"/>
                <a:sym typeface="Anton"/>
              </a:rPr>
              <a:t>Machine Learning Model</a:t>
            </a:r>
          </a:p>
        </p:txBody>
      </p:sp>
      <p:sp>
        <p:nvSpPr>
          <p:cNvPr id="5" name="TextBox 5"/>
          <p:cNvSpPr txBox="1"/>
          <p:nvPr/>
        </p:nvSpPr>
        <p:spPr>
          <a:xfrm>
            <a:off x="396743" y="4011210"/>
            <a:ext cx="17494514" cy="33477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FFFFFF"/>
                </a:solidFill>
                <a:latin typeface="Canva Sans"/>
                <a:ea typeface="Canva Sans"/>
                <a:cs typeface="Canva Sans"/>
                <a:sym typeface="Canva Sans"/>
              </a:rPr>
              <a:t>Model Used: Logistic Regression</a:t>
            </a:r>
          </a:p>
          <a:p>
            <a:pPr marL="690881" lvl="1" indent="-345440" algn="l">
              <a:lnSpc>
                <a:spcPts val="4480"/>
              </a:lnSpc>
              <a:buFont typeface="Arial"/>
              <a:buChar char="•"/>
            </a:pPr>
            <a:r>
              <a:rPr lang="en-US" sz="3200">
                <a:solidFill>
                  <a:srgbClr val="FFFFFF"/>
                </a:solidFill>
                <a:latin typeface="Canva Sans"/>
                <a:ea typeface="Canva Sans"/>
                <a:cs typeface="Canva Sans"/>
                <a:sym typeface="Canva Sans"/>
              </a:rPr>
              <a:t>Feature Extraction: TF-IDF Vectorizer with unigram and bigram features</a:t>
            </a:r>
          </a:p>
          <a:p>
            <a:pPr marL="690881" lvl="1" indent="-345440" algn="l">
              <a:lnSpc>
                <a:spcPts val="4480"/>
              </a:lnSpc>
              <a:buFont typeface="Arial"/>
              <a:buChar char="•"/>
            </a:pPr>
            <a:r>
              <a:rPr lang="en-US" sz="3200">
                <a:solidFill>
                  <a:srgbClr val="FFFFFF"/>
                </a:solidFill>
                <a:latin typeface="Canva Sans"/>
                <a:ea typeface="Canva Sans"/>
                <a:cs typeface="Canva Sans"/>
                <a:sym typeface="Canva Sans"/>
              </a:rPr>
              <a:t>The model is chosen for its efficiency, simplicity, and strong performance in text classification tasks.</a:t>
            </a:r>
          </a:p>
          <a:p>
            <a:pPr marL="690881" lvl="1" indent="-345440" algn="l">
              <a:lnSpc>
                <a:spcPts val="4480"/>
              </a:lnSpc>
              <a:buFont typeface="Arial"/>
              <a:buChar char="•"/>
            </a:pPr>
            <a:r>
              <a:rPr lang="en-US" sz="3200">
                <a:solidFill>
                  <a:srgbClr val="FFFFFF"/>
                </a:solidFill>
                <a:latin typeface="Canva Sans"/>
                <a:ea typeface="Canva Sans"/>
                <a:cs typeface="Canva Sans"/>
                <a:sym typeface="Canva Sans"/>
              </a:rPr>
              <a:t>TF-IDF ensures the model focuses on the most informative words and phrases relevant to emotion detection.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flipV="1">
            <a:off x="-2565628" y="-3513203"/>
            <a:ext cx="11709628" cy="10368344"/>
          </a:xfrm>
          <a:custGeom>
            <a:avLst/>
            <a:gdLst/>
            <a:ahLst/>
            <a:cxnLst/>
            <a:rect l="l" t="t" r="r" b="b"/>
            <a:pathLst>
              <a:path w="11709628" h="10368344">
                <a:moveTo>
                  <a:pt x="11709628" y="10368344"/>
                </a:moveTo>
                <a:lnTo>
                  <a:pt x="0" y="10368344"/>
                </a:lnTo>
                <a:lnTo>
                  <a:pt x="0" y="0"/>
                </a:lnTo>
                <a:lnTo>
                  <a:pt x="11709628" y="0"/>
                </a:lnTo>
                <a:lnTo>
                  <a:pt x="11709628" y="10368344"/>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6646247" y="1876647"/>
            <a:ext cx="4995506" cy="987425"/>
          </a:xfrm>
          <a:prstGeom prst="rect">
            <a:avLst/>
          </a:prstGeom>
        </p:spPr>
        <p:txBody>
          <a:bodyPr lIns="0" tIns="0" rIns="0" bIns="0" rtlCol="0" anchor="t">
            <a:spAutoFit/>
          </a:bodyPr>
          <a:lstStyle/>
          <a:p>
            <a:pPr algn="ctr">
              <a:lnSpc>
                <a:spcPts val="8050"/>
              </a:lnSpc>
            </a:pPr>
            <a:r>
              <a:rPr lang="en-US" sz="5750">
                <a:solidFill>
                  <a:srgbClr val="FFFFFF"/>
                </a:solidFill>
                <a:latin typeface="Anton"/>
                <a:ea typeface="Anton"/>
                <a:cs typeface="Anton"/>
                <a:sym typeface="Anton"/>
              </a:rPr>
              <a:t>Model Evaluation</a:t>
            </a:r>
          </a:p>
        </p:txBody>
      </p:sp>
      <p:sp>
        <p:nvSpPr>
          <p:cNvPr id="5" name="TextBox 5"/>
          <p:cNvSpPr txBox="1"/>
          <p:nvPr/>
        </p:nvSpPr>
        <p:spPr>
          <a:xfrm>
            <a:off x="2672041" y="3599120"/>
            <a:ext cx="12943919" cy="35807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Model performance is evaluated using accuracy, precision, recall.</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A confusion matrix is used to understand misclassifications and overall prediction patterns.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These metrics help assess the reliability and effectiveness of the emotion classifier.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028700" y="3686209"/>
            <a:ext cx="9234964" cy="2176164"/>
          </a:xfrm>
          <a:custGeom>
            <a:avLst/>
            <a:gdLst/>
            <a:ahLst/>
            <a:cxnLst/>
            <a:rect l="l" t="t" r="r" b="b"/>
            <a:pathLst>
              <a:path w="9234964" h="2176164">
                <a:moveTo>
                  <a:pt x="0" y="0"/>
                </a:moveTo>
                <a:lnTo>
                  <a:pt x="9234964" y="0"/>
                </a:lnTo>
                <a:lnTo>
                  <a:pt x="9234964" y="2176164"/>
                </a:lnTo>
                <a:lnTo>
                  <a:pt x="0" y="2176164"/>
                </a:lnTo>
                <a:lnTo>
                  <a:pt x="0" y="0"/>
                </a:lnTo>
                <a:close/>
              </a:path>
            </a:pathLst>
          </a:custGeom>
          <a:blipFill>
            <a:blip r:embed="rId4"/>
            <a:stretch>
              <a:fillRect l="-8548"/>
            </a:stretch>
          </a:blipFill>
        </p:spPr>
        <p:txBody>
          <a:bodyPr/>
          <a:lstStyle/>
          <a:p>
            <a:endParaRPr lang="en-IN"/>
          </a:p>
        </p:txBody>
      </p:sp>
      <p:sp>
        <p:nvSpPr>
          <p:cNvPr id="5" name="Freeform 5"/>
          <p:cNvSpPr/>
          <p:nvPr/>
        </p:nvSpPr>
        <p:spPr>
          <a:xfrm>
            <a:off x="7637146" y="6501309"/>
            <a:ext cx="8656198" cy="2446317"/>
          </a:xfrm>
          <a:custGeom>
            <a:avLst/>
            <a:gdLst/>
            <a:ahLst/>
            <a:cxnLst/>
            <a:rect l="l" t="t" r="r" b="b"/>
            <a:pathLst>
              <a:path w="8656198" h="2446317">
                <a:moveTo>
                  <a:pt x="0" y="0"/>
                </a:moveTo>
                <a:lnTo>
                  <a:pt x="8656199" y="0"/>
                </a:lnTo>
                <a:lnTo>
                  <a:pt x="8656199" y="2446317"/>
                </a:lnTo>
                <a:lnTo>
                  <a:pt x="0" y="2446317"/>
                </a:lnTo>
                <a:lnTo>
                  <a:pt x="0" y="0"/>
                </a:lnTo>
                <a:close/>
              </a:path>
            </a:pathLst>
          </a:custGeom>
          <a:blipFill>
            <a:blip r:embed="rId5"/>
            <a:stretch>
              <a:fillRect/>
            </a:stretch>
          </a:blipFill>
        </p:spPr>
        <p:txBody>
          <a:bodyPr/>
          <a:lstStyle/>
          <a:p>
            <a:endParaRPr lang="en-IN"/>
          </a:p>
        </p:txBody>
      </p:sp>
      <p:sp>
        <p:nvSpPr>
          <p:cNvPr id="6" name="TextBox 6"/>
          <p:cNvSpPr txBox="1"/>
          <p:nvPr/>
        </p:nvSpPr>
        <p:spPr>
          <a:xfrm>
            <a:off x="6322754" y="2059848"/>
            <a:ext cx="5793046" cy="987425"/>
          </a:xfrm>
          <a:prstGeom prst="rect">
            <a:avLst/>
          </a:prstGeom>
        </p:spPr>
        <p:txBody>
          <a:bodyPr wrap="square" lIns="0" tIns="0" rIns="0" bIns="0" rtlCol="0" anchor="t">
            <a:spAutoFit/>
          </a:bodyPr>
          <a:lstStyle/>
          <a:p>
            <a:pPr algn="ctr">
              <a:lnSpc>
                <a:spcPts val="8050"/>
              </a:lnSpc>
              <a:spcBef>
                <a:spcPct val="0"/>
              </a:spcBef>
            </a:pPr>
            <a:r>
              <a:rPr lang="en-US" sz="5750" dirty="0">
                <a:solidFill>
                  <a:srgbClr val="FFFFFF"/>
                </a:solidFill>
                <a:latin typeface="Anton"/>
                <a:ea typeface="Anton"/>
                <a:cs typeface="Anton"/>
                <a:sym typeface="Anton"/>
              </a:rPr>
              <a:t>Sample Predictions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7443966" y="1840232"/>
            <a:ext cx="3400068" cy="987425"/>
          </a:xfrm>
          <a:prstGeom prst="rect">
            <a:avLst/>
          </a:prstGeom>
        </p:spPr>
        <p:txBody>
          <a:bodyPr lIns="0" tIns="0" rIns="0" bIns="0" rtlCol="0" anchor="t">
            <a:spAutoFit/>
          </a:bodyPr>
          <a:lstStyle/>
          <a:p>
            <a:pPr algn="ctr">
              <a:lnSpc>
                <a:spcPts val="8050"/>
              </a:lnSpc>
              <a:spcBef>
                <a:spcPct val="0"/>
              </a:spcBef>
            </a:pPr>
            <a:r>
              <a:rPr lang="en-US" sz="5750">
                <a:solidFill>
                  <a:srgbClr val="FFFFFF"/>
                </a:solidFill>
                <a:latin typeface="Anton"/>
                <a:ea typeface="Anton"/>
                <a:cs typeface="Anton"/>
                <a:sym typeface="Anton"/>
              </a:rPr>
              <a:t> Conclusion</a:t>
            </a:r>
          </a:p>
        </p:txBody>
      </p:sp>
      <p:sp>
        <p:nvSpPr>
          <p:cNvPr id="5" name="TextBox 5"/>
          <p:cNvSpPr txBox="1"/>
          <p:nvPr/>
        </p:nvSpPr>
        <p:spPr>
          <a:xfrm>
            <a:off x="2194486" y="3912198"/>
            <a:ext cx="13899029" cy="3347720"/>
          </a:xfrm>
          <a:prstGeom prst="rect">
            <a:avLst/>
          </a:prstGeom>
        </p:spPr>
        <p:txBody>
          <a:bodyPr lIns="0" tIns="0" rIns="0" bIns="0" rtlCol="0" anchor="t">
            <a:spAutoFit/>
          </a:bodyPr>
          <a:lstStyle/>
          <a:p>
            <a:pPr algn="l">
              <a:lnSpc>
                <a:spcPts val="4480"/>
              </a:lnSpc>
              <a:spcBef>
                <a:spcPct val="0"/>
              </a:spcBef>
            </a:pPr>
            <a:r>
              <a:rPr lang="en-US" sz="3200">
                <a:solidFill>
                  <a:srgbClr val="FFFFFF"/>
                </a:solidFill>
                <a:latin typeface="Google Sans"/>
                <a:ea typeface="Google Sans"/>
                <a:cs typeface="Google Sans"/>
                <a:sym typeface="Google Sans"/>
              </a:rPr>
              <a:t>This project successfully implements a machine learning approach for emotion recognition from text. Through data preprocessing, TF-IDF feature extraction, and logistic regression modeling, the system achieves reliable emotion classification.</a:t>
            </a:r>
          </a:p>
          <a:p>
            <a:pPr algn="l">
              <a:lnSpc>
                <a:spcPts val="4480"/>
              </a:lnSpc>
              <a:spcBef>
                <a:spcPct val="0"/>
              </a:spcBef>
            </a:pPr>
            <a:r>
              <a:rPr lang="en-US" sz="3200">
                <a:solidFill>
                  <a:srgbClr val="FFFFFF"/>
                </a:solidFill>
                <a:latin typeface="Google Sans"/>
                <a:ea typeface="Google Sans"/>
                <a:cs typeface="Google Sans"/>
                <a:sym typeface="Google Sans"/>
              </a:rPr>
              <a:t>The developed model can be integrated into various real-world applications requiring emotional insight from textual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B28"/>
        </a:solidFill>
        <a:effectLst/>
      </p:bgPr>
    </p:bg>
    <p:spTree>
      <p:nvGrpSpPr>
        <p:cNvPr id="1" name=""/>
        <p:cNvGrpSpPr/>
        <p:nvPr/>
      </p:nvGrpSpPr>
      <p:grpSpPr>
        <a:xfrm>
          <a:off x="0" y="0"/>
          <a:ext cx="0" cy="0"/>
          <a:chOff x="0" y="0"/>
          <a:chExt cx="0" cy="0"/>
        </a:xfrm>
      </p:grpSpPr>
      <p:sp>
        <p:nvSpPr>
          <p:cNvPr id="2" name="Freeform 2"/>
          <p:cNvSpPr/>
          <p:nvPr/>
        </p:nvSpPr>
        <p:spPr>
          <a:xfrm flipH="1" flipV="1">
            <a:off x="-2252317" y="-3661981"/>
            <a:ext cx="11688756" cy="10349862"/>
          </a:xfrm>
          <a:custGeom>
            <a:avLst/>
            <a:gdLst/>
            <a:ahLst/>
            <a:cxnLst/>
            <a:rect l="l" t="t" r="r" b="b"/>
            <a:pathLst>
              <a:path w="11688756" h="10349862">
                <a:moveTo>
                  <a:pt x="11688755" y="10349861"/>
                </a:moveTo>
                <a:lnTo>
                  <a:pt x="0" y="10349861"/>
                </a:lnTo>
                <a:lnTo>
                  <a:pt x="0" y="0"/>
                </a:lnTo>
                <a:lnTo>
                  <a:pt x="11688755" y="0"/>
                </a:lnTo>
                <a:lnTo>
                  <a:pt x="11688755" y="10349861"/>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1329979" y="2774950"/>
            <a:ext cx="15628042" cy="4270376"/>
          </a:xfrm>
          <a:prstGeom prst="rect">
            <a:avLst/>
          </a:prstGeom>
        </p:spPr>
        <p:txBody>
          <a:bodyPr lIns="0" tIns="0" rIns="0" bIns="0" rtlCol="0" anchor="t">
            <a:spAutoFit/>
          </a:bodyPr>
          <a:lstStyle/>
          <a:p>
            <a:pPr algn="ctr">
              <a:lnSpc>
                <a:spcPts val="34999"/>
              </a:lnSpc>
              <a:spcBef>
                <a:spcPct val="0"/>
              </a:spcBef>
            </a:pPr>
            <a:r>
              <a:rPr lang="en-US" sz="24999">
                <a:solidFill>
                  <a:srgbClr val="FFFFFF"/>
                </a:solidFill>
                <a:latin typeface="Anton"/>
                <a:ea typeface="Anton"/>
                <a:cs typeface="Anton"/>
                <a:sym typeface="Anton"/>
              </a:rPr>
              <a:t>Thank You</a:t>
            </a:r>
          </a:p>
        </p:txBody>
      </p:sp>
      <p:sp>
        <p:nvSpPr>
          <p:cNvPr id="4" name="Freeform 4"/>
          <p:cNvSpPr/>
          <p:nvPr/>
        </p:nvSpPr>
        <p:spPr>
          <a:xfrm>
            <a:off x="8851562" y="3599120"/>
            <a:ext cx="11688756" cy="10349862"/>
          </a:xfrm>
          <a:custGeom>
            <a:avLst/>
            <a:gdLst/>
            <a:ahLst/>
            <a:cxnLst/>
            <a:rect l="l" t="t" r="r" b="b"/>
            <a:pathLst>
              <a:path w="11688756" h="10349862">
                <a:moveTo>
                  <a:pt x="0" y="0"/>
                </a:moveTo>
                <a:lnTo>
                  <a:pt x="11688755" y="0"/>
                </a:lnTo>
                <a:lnTo>
                  <a:pt x="11688755" y="10349861"/>
                </a:lnTo>
                <a:lnTo>
                  <a:pt x="0" y="10349861"/>
                </a:lnTo>
                <a:lnTo>
                  <a:pt x="0" y="0"/>
                </a:lnTo>
                <a:close/>
              </a:path>
            </a:pathLst>
          </a:custGeom>
          <a:blipFill>
            <a:blip r:embed="rId2">
              <a:alphaModFix amt="16000"/>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374</Words>
  <Application>Microsoft Office PowerPoint</Application>
  <PresentationFormat>Custom</PresentationFormat>
  <Paragraphs>40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Canva Sans</vt:lpstr>
      <vt:lpstr>Montserrat Classic</vt:lpstr>
      <vt:lpstr>Calibri</vt:lpstr>
      <vt:lpstr>Arial</vt:lpstr>
      <vt:lpstr>Google Sans</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recognition(IBM)</dc:title>
  <cp:lastModifiedBy>Aditya Bikram Dhar</cp:lastModifiedBy>
  <cp:revision>1</cp:revision>
  <dcterms:created xsi:type="dcterms:W3CDTF">2006-08-16T00:00:00Z</dcterms:created>
  <dcterms:modified xsi:type="dcterms:W3CDTF">2025-11-15T19:38:57Z</dcterms:modified>
  <dc:identifier>DAG4waXWc1k</dc:identifier>
</cp:coreProperties>
</file>